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Milestones Across Research Lineage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AUC / BLEU-4 (normalised 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ChestX-ray14
(2017)</c:v>
                </c:pt>
                <c:pt idx="1">
                  <c:v>SwinCheX
(2022)</c:v>
                </c:pt>
                <c:pt idx="2">
                  <c:v>R2Gen
(2020)</c:v>
                </c:pt>
                <c:pt idx="3">
                  <c:v>MAIRA-2
(2024)</c:v>
                </c:pt>
                <c:pt idx="4">
                  <c:v>UniRG
(2026)</c:v>
                </c:pt>
                <c:pt idx="5">
                  <c:v>RL-GroundGen
(Proposed)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73.0</c:v>
                </c:pt>
                <c:pt idx="1">
                  <c:v>81.0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Clinical Factuality (CE F1 %)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ChestX-ray14
(2017)</c:v>
                </c:pt>
                <c:pt idx="1">
                  <c:v>SwinCheX
(2022)</c:v>
                </c:pt>
                <c:pt idx="2">
                  <c:v>R2Gen
(2020)</c:v>
                </c:pt>
                <c:pt idx="3">
                  <c:v>MAIRA-2
(2024)</c:v>
                </c:pt>
                <c:pt idx="4">
                  <c:v>UniRG
(2026)</c:v>
                </c:pt>
                <c:pt idx="5">
                  <c:v>RL-GroundGen
(Proposed)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55.0</c:v>
                </c:pt>
                <c:pt idx="3">
                  <c:v>63.0</c:v>
                </c:pt>
                <c:pt idx="4">
                  <c:v>74.0</c:v>
                </c:pt>
                <c:pt idx="5">
                  <c:v>82.0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Grounding IoU@0.5 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ChestX-ray14
(2017)</c:v>
                </c:pt>
                <c:pt idx="1">
                  <c:v>SwinCheX
(2022)</c:v>
                </c:pt>
                <c:pt idx="2">
                  <c:v>R2Gen
(2020)</c:v>
                </c:pt>
                <c:pt idx="3">
                  <c:v>MAIRA-2
(2024)</c:v>
                </c:pt>
                <c:pt idx="4">
                  <c:v>UniRG
(2026)</c:v>
                </c:pt>
                <c:pt idx="5">
                  <c:v>RL-GroundGen
(Proposed)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42.0</c:v>
                </c:pt>
                <c:pt idx="4">
                  <c:v>0</c:v>
                </c:pt>
                <c:pt idx="5">
                  <c:v>60.0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Predicted Metric Improvements by Configuration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CE-F1 (relative)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SFT Only</c:v>
                </c:pt>
                <c:pt idx="1">
                  <c:v>+R_text</c:v>
                </c:pt>
                <c:pt idx="2">
                  <c:v>+R_box</c:v>
                </c:pt>
                <c:pt idx="3">
                  <c:v>Full RL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74</c:v>
                </c:pt>
                <c:pt idx="2">
                  <c:v>52</c:v>
                </c:pt>
                <c:pt idx="3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RadFact-F1 (relative)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SFT Only</c:v>
                </c:pt>
                <c:pt idx="1">
                  <c:v>+R_text</c:v>
                </c:pt>
                <c:pt idx="2">
                  <c:v>+R_box</c:v>
                </c:pt>
                <c:pt idx="3">
                  <c:v>Full RL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71</c:v>
                </c:pt>
                <c:pt idx="2">
                  <c:v>49</c:v>
                </c:pt>
                <c:pt idx="3">
                  <c:v>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mIoU@0.5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SFT Only</c:v>
                </c:pt>
                <c:pt idx="1">
                  <c:v>+R_text</c:v>
                </c:pt>
                <c:pt idx="2">
                  <c:v>+R_box</c:v>
                </c:pt>
                <c:pt idx="3">
                  <c:v>Full RL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35</c:v>
                </c:pt>
                <c:pt idx="1">
                  <c:v>36</c:v>
                </c:pt>
                <c:pt idx="2">
                  <c:v>60</c:v>
                </c:pt>
                <c:pt idx="3">
                  <c:v>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84124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  <a:latin typeface="Calibri"/>
              </a:rPr>
              <a:t>Reinforcement Learning-Optimized
Grounded Radiology Report Generation
with Hierarchical Vision Transformers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─────────────────────────────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Muhammad Talha  |  K25-7605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6BAA"/>
                </a:solidFill>
                <a:latin typeface="Calibri"/>
              </a:rPr>
              <a:t>Department of Computer Science
FAST National University  |  Karachi, Pakistan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34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4A261"/>
                </a:solidFill>
                <a:latin typeface="Calibri"/>
              </a:rPr>
              <a:t>10-Minute Research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FF"/>
                </a:solidFill>
                <a:latin typeface="Calibri"/>
              </a:rPr>
              <a:t>Medical Computer Vision  ·  Deep Learning  ·  Radiology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12 Key Research Components in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Research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57600" cy="105156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630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657600" cy="105156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4630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Research Problem &amp;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3657600" cy="1051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Variables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651760"/>
            <a:ext cx="365760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7432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Hypothesis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651760"/>
            <a:ext cx="36576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7432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Research Design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31920"/>
            <a:ext cx="3657600" cy="105156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23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Study 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931920"/>
            <a:ext cx="3657600" cy="105156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0233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023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Collection Method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931920"/>
            <a:ext cx="3657600" cy="1051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0233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023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Attitudinal Scales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12080"/>
            <a:ext cx="365760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303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Research Instrument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5212080"/>
            <a:ext cx="36576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3035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5303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Sample Selection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212080"/>
            <a:ext cx="3657600" cy="105156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53035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5303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01  ·  Research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End-to-end scientific pipeline from problem to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2103120"/>
            <a:ext cx="1645920" cy="109728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Problem
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856" y="26334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9736" y="2103120"/>
            <a:ext cx="1645920" cy="109728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9736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Literature
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26334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2103120"/>
            <a:ext cx="164592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Hypothesis
Formulation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26334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2103120"/>
            <a:ext cx="164592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Framework
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6334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2103120"/>
            <a:ext cx="1645920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Training
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26334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57816" y="2103120"/>
            <a:ext cx="164592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7816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Evaluation &amp;
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" y="3337560"/>
            <a:ext cx="3520440" cy="32004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33375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Phase 1
(Research Design)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4256" y="3337560"/>
            <a:ext cx="5394960" cy="3200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3337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Phase 2
(Development)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3337560"/>
            <a:ext cx="16459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Phase 3
(Evaluation)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8404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The research follows a systematic six-phase process: (1) identifying the gap in grounded radiology AI, (2) reviewing prior art, (3) hypothesising a joint RL reward improves both text and localization, (4) designing the RL-GroundGen architecture, (5) running the two-phase training pipeline (SFT → GRPO), and (6) evaluating against NLG, clinical efficacy and spatial grounding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02  · 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Three intersecting research threads leading to RL-GroundGen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566160" cy="45720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CXR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2023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ChestX-ray14 (Wang 2019)
108,948 images, 14 labels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59"/>
            <a:ext cx="356616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260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CheXpert (Irvin 2019)
224,316 images, uncertainty labels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199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3191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SwinCheX (Taslimi 2022)
AUC 0.810 using Swin Transformer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92039"/>
            <a:ext cx="356616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93775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PneuNet (Saranyaraj 2026)
1.8M-param lightweight detector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371600"/>
            <a:ext cx="356616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Report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874519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192023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R2Gen (Chen 2020)
Memory-Driven Transformer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2880359"/>
            <a:ext cx="356616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29260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MIMIC-CXR (Johnson 2019)
377,110 images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886199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399" y="393191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MAIRA-2 (Bannur 2024)
Grounded SFT + Rad-DINO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4892039"/>
            <a:ext cx="356616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493775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CXRMate-2 (Nicolson 2026)
Multimodal RL conditioning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8" y="1371600"/>
            <a:ext cx="356616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8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RL Optimisation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598" y="1874519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8" y="192023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PPO (Schulman)
Proximal policy gradient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598" y="2880359"/>
            <a:ext cx="356616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38" y="29260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GRPO (Shao/DeepSeekMath)
Value-model-free, memory-efficient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598" y="3886199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38" y="393191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UniRG (Liu 2026)
GRPO on QWEN-VL for report 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598" y="4892039"/>
            <a:ext cx="356616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38" y="493775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Gap: no RL for spatial
grounding identified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43600"/>
            <a:ext cx="11612880" cy="50292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📌 Research Gap: No existing framework uses RL to jointly optimize TEXT accuracy AND SPATIAL grounding simultaneously.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02  ·  Literature Review – Performance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Key metric improvements over time in CXR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24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371600"/>
          <a:ext cx="112471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03  · 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The unresolved gap in grounded radiology report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  <a:latin typeface="Calibri"/>
              </a:rPr>
              <a:t>"No existing framework uses reinforcement learning to jointly improve
both the clinical accuracy of generated text AND the spatial accuracy
of predicted bounding boxes in grounded radiology report generation."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2743200" cy="146304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MAIRA-2
✓ Grounded reporting
✗ SFT only, no RL reward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743200"/>
            <a:ext cx="2743200" cy="14630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8346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UniRG
✓ RL text quality
✗ No spatial grounding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743200"/>
            <a:ext cx="2743200" cy="1463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8346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SwinCheX
✓ Hierarchical vision
✗ Classification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709160"/>
            <a:ext cx="4846320" cy="822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RL-GroundGen FILLS this gap
(RL + Grounding + Hierarchical Vision)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04  · 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Independent, Dependent &amp; Controlled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49039" cy="5029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Independent Variables
(Manipulated / Input)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9659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Training strategy: SFT-only  vs  SFT + GRPO (RL)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9748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Reward components: R_text alone  /  R_box alone  /  Combined R_total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7472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5204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Visual backbone: Swin Transformer (hierarchical) vs flat ViT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297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Reward weights: α (text), β_box (spatial) — hyperparameters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371600"/>
            <a:ext cx="3749039" cy="50292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Dependent Variables
(Measured Outcomes)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92024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1" y="19659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NLG metrics: BLEU-1 to BLEU-4, METEOR, ROUGE-L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269748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1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Clinical Efficacy: Precision, Recall, F1 (CheXbert labels)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47472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1" y="35204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RadFact: Sentence-level factuality precision / recall / F1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425196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1" y="4297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Spatial grounding: mIoU, mIoU@0.5 of predicted bounding boxes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8" y="1371600"/>
            <a:ext cx="3749039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8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Controlled Variables
(Held Constant)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598" y="192024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0" y="19659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Dataset: MIMIC-CXR + ChestImaGenome (fixed splits)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598" y="269748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Encoder: Swin-Base (88M params), ImageNet-1K pretrained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598" y="347472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0" y="35204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Decoder: 7B-parameter LM initialisation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598" y="425196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0" y="4297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• Hardware: 4× NVIDIA A100 80 GB GPUs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05  · 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Formal research hypotheses guiding the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1097280" cy="105156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50876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H₁ — Textual 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417320"/>
            <a:ext cx="10332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15087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Adding GRPO-based RL training with a clinical factuality reward (R_text) after SFT will produce statistically significant improvements in CE-F1 and RadFact scores compared to SFT-only baselines (MAIRA-2).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51760"/>
            <a:ext cx="1097280" cy="105156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74320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H₂ — Spatial Grounding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2651760"/>
            <a:ext cx="10332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27432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Adding a GIoU-based spatial reward (R_box) in the GRPO objective will yield higher mIoU and mIoU@0.5 for predicted bounding boxes than SFT-only grounded reporting.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1097280" cy="1051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9776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H₃ — Joint Optimisation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3886200"/>
            <a:ext cx="10332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9776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The composite reward (R_total = αR_text + β_box·R_box) will improve BOTH textual and spatial quality simultaneously without trading one off against the other.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20640"/>
            <a:ext cx="109728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521208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H₄ — Hierarchical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5120640"/>
            <a:ext cx="10332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2120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A Swin Transformer encoder will produce richer multi-scale visual features that raise report quality (CE-F1) relative to flat-attention encoders, particularly for small pathologies (nodules, calcifications).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06  · 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Quantitative experimental design with ablation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01168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Paradigm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41732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554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Positivist / Empiricist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2011680" cy="91440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17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41732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54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Applied, Experimental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14600"/>
            <a:ext cx="201168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514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Approach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51460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2651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Quantitative — metric-driven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514600"/>
            <a:ext cx="2011680" cy="914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514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251460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651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Computational experiment + ablation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611880"/>
            <a:ext cx="2011680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118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Time Horizon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61188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3749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Cross-sectional (single-point eval)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611880"/>
            <a:ext cx="2011680" cy="9144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6118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61188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749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Chest X-Ray radiology report gen.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709160"/>
            <a:ext cx="2011680" cy="91440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709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Evaluation Framework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470916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4846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Benchmark-based (MIMIC-CXR splits)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709160"/>
            <a:ext cx="201168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709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Novelty Contribution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80" y="470916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4846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First joint RL reward for text + grounding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07  · 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RL-GroundGen Architecture: Encoder → Decoder → RL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200400" cy="429768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VISUAL ENCODER
(Hierarchical Swin Transformer)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677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Stage 1  96×96×C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163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Stage 2  48×48×2C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649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Stage 3  24×24×4C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13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Stage 4  12×12×8C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274320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537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FPN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Input CXR
384×384×3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2560320"/>
            <a:ext cx="13716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606040"/>
            <a:ext cx="137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Cross-
Attention
Projection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2004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1463040"/>
            <a:ext cx="3200400" cy="3657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LANGUAGE DECODER
(Autoregressive Transformer)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194560"/>
            <a:ext cx="292608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258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Text tokens (clinical findings)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2834640"/>
            <a:ext cx="292608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28986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Bounding Box tokens &lt;box&gt; x y x 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3474720"/>
            <a:ext cx="292608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35387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&lt;find&gt; … t₁…tₙ &lt;box&gt; x₁y₁x₂y₂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4114800"/>
            <a:ext cx="292608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1788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Output: grounded radiology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200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1463040"/>
            <a:ext cx="3383280" cy="3657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GRPO REWARD FUNCTION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103120"/>
            <a:ext cx="3200400" cy="54864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21671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R_text: Clinical factuality
(CheXprompt-style evaluator)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2834640"/>
            <a:ext cx="3200400" cy="54864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28986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R_box:  GIoU spatial reward
per predicted bounding box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3611880"/>
            <a:ext cx="3200400" cy="548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36758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R_total = α·R_text + β·R_box
(composite joint reward)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4297680"/>
            <a:ext cx="3200400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43616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GRPO Policy Update
(no value model needed)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200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08  ·  Data Collection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Existing publicly available datasets + expert annotations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486400" cy="5029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MIMIC-CXR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6BAA"/>
                </a:solidFill>
                <a:latin typeface="Calibri"/>
              </a:rPr>
              <a:t>Johnson et al. 2019 — standard benchmark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4028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134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📊 377,110 radiology 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48640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0779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👥 65,379 unique patients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021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🏥 Beth Israel Deaconess Medical Centre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548640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965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📄 Free-text radiology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9087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📦 227,835 radiographic studies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12080"/>
            <a:ext cx="548640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2852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🔖 Grounded subset: finding-level bounding boxes (Bannur et al. 2024)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71600"/>
            <a:ext cx="5486400" cy="50292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ChestImaGenome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63B3B"/>
                </a:solidFill>
                <a:latin typeface="Calibri"/>
              </a:rPr>
              <a:t>Shen et al. (part of MIMIC ecosystem)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24028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3134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📊 Structured grounding annotations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834640"/>
            <a:ext cx="548640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90779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🔗 Linked to MIMIC-CXR subset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42900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5021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📍 Sentence-level findings ↔ spatial boxes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023360"/>
            <a:ext cx="548640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0965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✅ Radiologist-verified box annotations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61772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69087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🎯 Used for spatial reward (R_box) training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5212080"/>
            <a:ext cx="548640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2852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🔀 Standard train / validation / test splits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43600"/>
            <a:ext cx="1161288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961888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Collection Type: Secondary / Archival  |  No primary data collected  |  All data de-identified &amp; publicly available  |  IRB: inherits MIMIC approvals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09  ·  Attitudinal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Applicability assessment in a computational medical AI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645920"/>
            <a:ext cx="7589520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69164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⚠  Attitudinal Scales are NOT APPLICABLE to this study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286000" cy="9601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9260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Why N/A?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83464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90779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Attitudinal scales (Likert, Semantic Differential, Thurstone) measure subjective human opinions or attitudes. This study is a purely computational, machine-learning experiment — no human survey respondents are involved.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2286000" cy="9601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02336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is used instead?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393192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400507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Quantitative performance metrics replace attitudinal measurement: NLG metrics (BLEU, METEOR, ROUGE-L), clinical efficacy labels (CheXbert), RadFact (LLM-based sentence inference), and spatial IoU scores.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200"/>
            <a:ext cx="2286000" cy="9601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1206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Future clinical applicability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502920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510235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If this framework were deployed in a clinical trial, Likert-scale questionnaires could measure radiologist trust, perceived utility, and verification efficiency — this is noted as future work by the authors.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10  ·  Research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The RL-GroundGen framework as the computational instrument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68580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Swin-Base
Visual Encoder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03120"/>
            <a:ext cx="3657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945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~88M parameters
Pretrained ImageNet-1K
Hierarchical 4-stage
feature pyramid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657600" cy="685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4173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LM Decoder
7B 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103120"/>
            <a:ext cx="3657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1945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Causal Transformer
Extended vocab:
+coordinate tokens
1000 spatial bins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657600" cy="685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4173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FPN Fusion
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103120"/>
            <a:ext cx="3657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Top-down lateral
connections
1×1 convolutions
Common resolution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40"/>
            <a:ext cx="3657600" cy="6858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49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GRPO Training
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34840"/>
            <a:ext cx="3657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2628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G=8 sample group
KL-penalised objective
ε=0.2 clip, β=0.04
No value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749040"/>
            <a:ext cx="36576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749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Composite
Reward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434840"/>
            <a:ext cx="3657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52628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α=0.6  R_text
β=0.4  R_box (GIoU)
Penalty −1 for
unmatched boxes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749040"/>
            <a:ext cx="365760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749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Evaluation
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434840"/>
            <a:ext cx="3657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52628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CheXbert labeller
RadFact (LLM)
BLEU/METEOR/ROUGE
mIoU@0.5 scorer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11  ·  Sample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Dataset partitioning, inclusion/exclusion, and sampling 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14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828800"/>
            <a:ext cx="5760720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 70%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828800"/>
            <a:ext cx="1234440" cy="64008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Val 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828800"/>
            <a:ext cx="123444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82880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 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508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Dataset Split  (MIMIC-CXR standard partitions)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97480"/>
            <a:ext cx="54864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697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Inclusion Criteria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✔  Frontal view (PA or AP) chest radiograph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548640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✔  Associated free-text radiology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80560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✔  Bounding box annotation available (grounded subset)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20640"/>
            <a:ext cx="548640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✔  Study from MIMIC-CXR published benchmark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97480"/>
            <a:ext cx="5486400" cy="4572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697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Exclusion Criteria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200400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291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✘  Lateral view radiographs (no frontal counterpart)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548640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✘  Studies missing radiologist bounding box labels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480560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✘  Incomplete or corrupt image 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120640"/>
            <a:ext cx="548640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Calibri"/>
              </a:rPr>
              <a:t>✘  Paediatric studies (out-of-distribution for encoder)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06440"/>
            <a:ext cx="11430000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83387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Sampling Strategy: Non-probabilistic purposive sampling  —  all available grounded-annotated studies from MIMIC-CXR are included; no random sub-sampling (maximises training signal).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12  ·  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Image pre-processing, tokenisation, and training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828800"/>
            <a:ext cx="128016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828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Raw CXR
DICOM/PNG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3042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11096" y="1828800"/>
            <a:ext cx="1280160" cy="128016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11096" y="1828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Resize &amp;
Normalise
384×384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042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416" y="1828800"/>
            <a:ext cx="1280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1828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Patch
Partition
4×4 patches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3042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5736" y="1828800"/>
            <a:ext cx="128016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45736" y="1828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Swin
Encoder
(4 stages)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3042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1828800"/>
            <a:ext cx="1280160" cy="12801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6" y="1828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FPN
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3042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0376" y="1828800"/>
            <a:ext cx="1280160" cy="128016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1828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SFT
Phase
(10 epochs)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3042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1828800"/>
            <a:ext cx="128016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97696" y="1828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GRPO RL
Phase
(3 epochs)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2304288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15016" y="1828800"/>
            <a:ext cx="1280160" cy="128016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1828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Grounded
Report
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337560"/>
            <a:ext cx="16459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401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3337560"/>
            <a:ext cx="41148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34015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337560"/>
            <a:ext cx="14630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401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Optimizer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337560"/>
            <a:ext cx="10058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3401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Epochs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3337560"/>
            <a:ext cx="32004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3401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Batch / LR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749040"/>
            <a:ext cx="1645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81304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Phase 1: SFT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3749040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81304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Token-level cross-entropy
(text + box tokens)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749040"/>
            <a:ext cx="1463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38130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AdamW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3749040"/>
            <a:ext cx="10058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381304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3749040"/>
            <a:ext cx="3200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38130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B=16  /  2e-5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434840"/>
            <a:ext cx="1645920" cy="685800"/>
          </a:xfrm>
          <a:prstGeom prst="rect">
            <a:avLst/>
          </a:prstGeom>
          <a:solidFill>
            <a:srgbClr val="E8F4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49884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Phase 2: GRPO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4434840"/>
            <a:ext cx="4114800" cy="685800"/>
          </a:xfrm>
          <a:prstGeom prst="rect">
            <a:avLst/>
          </a:prstGeom>
          <a:solidFill>
            <a:srgbClr val="E8F4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449884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Clipped surrogate + KL penalty
(composite reward)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434840"/>
            <a:ext cx="1463040" cy="685800"/>
          </a:xfrm>
          <a:prstGeom prst="rect">
            <a:avLst/>
          </a:prstGeom>
          <a:solidFill>
            <a:srgbClr val="E8F4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4988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AdamW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4434840"/>
            <a:ext cx="1005840" cy="685800"/>
          </a:xfrm>
          <a:prstGeom prst="rect">
            <a:avLst/>
          </a:prstGeom>
          <a:solidFill>
            <a:srgbClr val="E8F4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5240" y="449884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4434840"/>
            <a:ext cx="3200400" cy="685800"/>
          </a:xfrm>
          <a:prstGeom prst="rect">
            <a:avLst/>
          </a:prstGeom>
          <a:solidFill>
            <a:srgbClr val="E8F4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1080" y="44988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G=8  /  5e-7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96188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Coordinate Tokenisation: Each bounding box value quantised to 1000 bins in [0,1]  |  Mixed-precision FP16  |  Hardware: 4× NVIDIA A100 80GB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Expected Results &amp; Ablation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Anticipated performance trends across ablation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16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74320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813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417320"/>
            <a:ext cx="128016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48132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CE-F1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164592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813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RadFact-F1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17320"/>
            <a:ext cx="164592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4813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mIoU@0.5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417320"/>
            <a:ext cx="118872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1481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Text RL?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417320"/>
            <a:ext cx="118872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481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Box RL?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56232"/>
            <a:ext cx="2743200" cy="621792"/>
          </a:xfrm>
          <a:prstGeom prst="rect">
            <a:avLst/>
          </a:prstGeom>
          <a:solidFill>
            <a:srgbClr val="CCDD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965960"/>
            <a:ext cx="26517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2E"/>
                </a:solidFill>
                <a:latin typeface="Calibri"/>
              </a:rPr>
              <a:t>SFT Only (Baseline)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1856232"/>
            <a:ext cx="1280160" cy="621792"/>
          </a:xfrm>
          <a:prstGeom prst="rect">
            <a:avLst/>
          </a:prstGeom>
          <a:solidFill>
            <a:srgbClr val="CCDD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1965960"/>
            <a:ext cx="1188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2E"/>
                </a:solidFill>
                <a:latin typeface="Calibri"/>
              </a:rPr>
              <a:t>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856232"/>
            <a:ext cx="1645920" cy="621792"/>
          </a:xfrm>
          <a:prstGeom prst="rect">
            <a:avLst/>
          </a:prstGeom>
          <a:solidFill>
            <a:srgbClr val="CCDD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965960"/>
            <a:ext cx="15544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2E"/>
                </a:solidFill>
                <a:latin typeface="Calibri"/>
              </a:rPr>
              <a:t>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856232"/>
            <a:ext cx="1645920" cy="621792"/>
          </a:xfrm>
          <a:prstGeom prst="rect">
            <a:avLst/>
          </a:prstGeom>
          <a:solidFill>
            <a:srgbClr val="CCDD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965960"/>
            <a:ext cx="15544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2E"/>
                </a:solidFill>
                <a:latin typeface="Calibri"/>
              </a:rPr>
              <a:t>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1856232"/>
            <a:ext cx="1188720" cy="621792"/>
          </a:xfrm>
          <a:prstGeom prst="rect">
            <a:avLst/>
          </a:prstGeom>
          <a:solidFill>
            <a:srgbClr val="FFF0DD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1965960"/>
            <a:ext cx="1097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B3B"/>
                </a:solidFill>
                <a:latin typeface="Calibri"/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856232"/>
            <a:ext cx="1188720" cy="621792"/>
          </a:xfrm>
          <a:prstGeom prst="rect">
            <a:avLst/>
          </a:prstGeom>
          <a:solidFill>
            <a:srgbClr val="FFF0DD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1965960"/>
            <a:ext cx="1097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B3B"/>
                </a:solidFill>
                <a:latin typeface="Calibr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478024"/>
            <a:ext cx="2743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587752"/>
            <a:ext cx="26517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2E"/>
                </a:solidFill>
                <a:latin typeface="Calibri"/>
              </a:rPr>
              <a:t>SFT + R_text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478024"/>
            <a:ext cx="128016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80" y="2587752"/>
            <a:ext cx="1188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↑↑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478024"/>
            <a:ext cx="164592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2587752"/>
            <a:ext cx="15544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↑↑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2478024"/>
            <a:ext cx="1645920" cy="621792"/>
          </a:xfrm>
          <a:prstGeom prst="rect">
            <a:avLst/>
          </a:prstGeom>
          <a:solidFill>
            <a:srgbClr val="FFF0DD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587752"/>
            <a:ext cx="15544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B3B"/>
                </a:solidFill>
                <a:latin typeface="Calibri"/>
              </a:rPr>
              <a:t>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2478024"/>
            <a:ext cx="118872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26680" y="2587752"/>
            <a:ext cx="1097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Calibri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2478024"/>
            <a:ext cx="1188720" cy="621792"/>
          </a:xfrm>
          <a:prstGeom prst="rect">
            <a:avLst/>
          </a:prstGeom>
          <a:solidFill>
            <a:srgbClr val="FFF0DD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5400" y="2587752"/>
            <a:ext cx="1097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B3B"/>
                </a:solidFill>
                <a:latin typeface="Calibri"/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099816"/>
            <a:ext cx="2743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209544"/>
            <a:ext cx="26517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2E"/>
                </a:solidFill>
                <a:latin typeface="Calibri"/>
              </a:rPr>
              <a:t>SFT + R_box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3099816"/>
            <a:ext cx="1280160" cy="621792"/>
          </a:xfrm>
          <a:prstGeom prst="rect">
            <a:avLst/>
          </a:prstGeom>
          <a:solidFill>
            <a:srgbClr val="FFF0DD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4680" y="3209544"/>
            <a:ext cx="1188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B3B"/>
                </a:solidFill>
                <a:latin typeface="Calibri"/>
              </a:rPr>
              <a:t>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3099816"/>
            <a:ext cx="1645920" cy="621792"/>
          </a:xfrm>
          <a:prstGeom prst="rect">
            <a:avLst/>
          </a:prstGeom>
          <a:solidFill>
            <a:srgbClr val="FFF0DD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3209544"/>
            <a:ext cx="15544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B3B"/>
                </a:solidFill>
                <a:latin typeface="Calibri"/>
              </a:rPr>
              <a:t>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099816"/>
            <a:ext cx="164592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3209544"/>
            <a:ext cx="15544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↑↑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3099816"/>
            <a:ext cx="1188720" cy="621792"/>
          </a:xfrm>
          <a:prstGeom prst="rect">
            <a:avLst/>
          </a:prstGeom>
          <a:solidFill>
            <a:srgbClr val="FFF0DD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26680" y="3209544"/>
            <a:ext cx="1097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B3B"/>
                </a:solidFill>
                <a:latin typeface="Calibri"/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69680" y="3099816"/>
            <a:ext cx="118872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15400" y="3209544"/>
            <a:ext cx="1097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Calibri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721608"/>
            <a:ext cx="274320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3831336"/>
            <a:ext cx="26517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2E"/>
                </a:solidFill>
                <a:latin typeface="Calibri"/>
              </a:rPr>
              <a:t>Full RL-GroundGen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3721608"/>
            <a:ext cx="128016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54680" y="3831336"/>
            <a:ext cx="1188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↑↑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3721608"/>
            <a:ext cx="164592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4840" y="3831336"/>
            <a:ext cx="15544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↑↑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3721608"/>
            <a:ext cx="164592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0760" y="3831336"/>
            <a:ext cx="15544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↑↑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3721608"/>
            <a:ext cx="118872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26680" y="3831336"/>
            <a:ext cx="1097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Calibri"/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69680" y="3721608"/>
            <a:ext cx="1188720" cy="621792"/>
          </a:xfrm>
          <a:prstGeom prst="rect">
            <a:avLst/>
          </a:prstGeom>
          <a:solidFill>
            <a:srgbClr val="C8F0D0"/>
          </a:solidFill>
          <a:ln w="9525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15400" y="3831336"/>
            <a:ext cx="1097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Calibri"/>
              </a:rPr>
              <a:t>✓</a:t>
            </a:r>
          </a:p>
        </p:txBody>
      </p:sp>
      <p:graphicFrame>
        <p:nvGraphicFramePr>
          <p:cNvPr id="69" name="Chart 68"/>
          <p:cNvGraphicFramePr>
            <a:graphicFrameLocks noGrp="1"/>
          </p:cNvGraphicFramePr>
          <p:nvPr/>
        </p:nvGraphicFramePr>
        <p:xfrm>
          <a:off x="5760720" y="1417320"/>
          <a:ext cx="60350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Honest assessment of constraints and research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17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1280160" cy="9144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55448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Annotation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141732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508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Grounded subset of MIMIC-CXR covers limited pathologies; bounding box annotation is expensive. Generalisation to unannotated findings is open.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1280160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60604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Compute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24688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2560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GRPO requires G=8 full reports per image per step + reward evaluation. A 7B decoder × 4× A100s — resource-intensive compared to SFT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20440"/>
            <a:ext cx="1280160" cy="91440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65760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Reward Dependency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352044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6118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Textual reward relies on an external clinical evaluator model. Systematic evaluator errors get baked into the reward signal.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1280160" cy="9144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470916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Clinical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45720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46634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No prospective reader study yet. Real-world efficacy requires radiologist evaluation of correctness and verification speed.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371600"/>
            <a:ext cx="475488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🔭  Future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874519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19659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➜  Extend to CT, MRI (3-D grounding / volumetric boxes)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606039"/>
            <a:ext cx="4754880" cy="685800"/>
          </a:xfrm>
          <a:prstGeom prst="rect">
            <a:avLst/>
          </a:prstGeom>
          <a:solidFill>
            <a:srgbClr val="F2F4F7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6974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➜  Dynamic reward weight learning (multi-objective optimisation)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3337559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342899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➜  Weakly supervised grounding via Swin attention maps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4069079"/>
            <a:ext cx="4754880" cy="685800"/>
          </a:xfrm>
          <a:prstGeom prst="rect">
            <a:avLst/>
          </a:prstGeom>
          <a:solidFill>
            <a:srgbClr val="F2F4F7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4160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➜  Prospective radiologist reader study for clinical utility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4800599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4892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➜  Modular design — swap in newer encoders/decoders as available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5029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Contribution 1: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657600" cy="1463040"/>
          </a:xfrm>
          <a:prstGeom prst="rect">
            <a:avLst/>
          </a:prstGeom>
          <a:solidFill>
            <a:srgbClr val="14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Hierarchical Swin Transformer encoder + LM decoder with interleaved text &amp; bounding-box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657600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Contribution 2: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657600" cy="1463040"/>
          </a:xfrm>
          <a:prstGeom prst="rect">
            <a:avLst/>
          </a:prstGeom>
          <a:solidFill>
            <a:srgbClr val="14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Two-phase pipeline: SFT warm-start → GRPO RL refinement with composite reward (text + spatial)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65760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Contribution 3: Reward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3657600" cy="1463040"/>
          </a:xfrm>
          <a:prstGeom prst="rect">
            <a:avLst/>
          </a:prstGeom>
          <a:solidFill>
            <a:srgbClr val="14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First joint RL reward targeting both clinical factuality (R_text) and spatial precision (R_box = GIoU)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0D2B55"/>
                </a:solidFill>
                <a:latin typeface="Calibri"/>
              </a:rPr>
              <a:t>RL-GroundGen fills the identified gap: the first framework to apply reinforcement learning
simultaneously to BOTH textual accuracy AND spatial grounding in radiology report generation.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Research Process: 6-phase systematic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212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Literature Review: 11 papers across 3 research threads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Research Problem: Joint RL for text + spatial grounding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Variables: Training strategy (IV) → NLG/CE/IoU metrics (DV)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Hypothesis: Composite reward improves both dimensions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Research Design: Quantitative, experimental, ablation-based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9377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Study Design: Swin encoder + LM decoder + GRPO reward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2120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Data Collection: MIMIC-CXR + ChestImaGenome (secondary)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4864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Attitudinal Scales: N/A (computational study)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7607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Research Instrument: RL-GroundGen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60350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Sample Selection: All grounded-annotated MIMIC-CXR studies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63093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  <a:latin typeface="Calibri"/>
              </a:rPr>
              <a:t>✓ Data Processing: Resize → Patch → Swin → FPN → SFT → GRPO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Key literature cited in RL-GroundGen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19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AA"/>
                </a:solidFill>
                <a:latin typeface="Calibri"/>
              </a:rPr>
              <a:t>[1] Irvin et al. (2019). CheXpert: A large chest radiograph dataset. AAAI.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745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[2] Johnson et al. (2019). MIMIC-CXR: De-identified public chest radiograph database. Sci.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AA"/>
                </a:solidFill>
                <a:latin typeface="Calibri"/>
              </a:rPr>
              <a:t>[3] Chen et al. (2020). R2Gen: Generating radiology reports via memory-driven Transformer. EMNLP.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[4] Liu et al. (2021). Swin Transformer: Hierarchical vision transformer using shifted windows. ICCV.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461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AA"/>
                </a:solidFill>
                <a:latin typeface="Calibri"/>
              </a:rPr>
              <a:t>[5] Pillai (2022). Multi-label chest X-ray classification via deep learning. JILSA.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033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[6] Taslimi et al. (2022). SwinCheX: Multi-label classification on chest X-ray with transformers. arXiv.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605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AA"/>
                </a:solidFill>
                <a:latin typeface="Calibri"/>
              </a:rPr>
              <a:t>[7] Alshmrani et al. (2023). Deep learning for multi-class lung disease classification. Alexandria Eng. J.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177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[8] Bannur et al. (2024). MAIRA-2: Grounded radiology report generation. arXiv.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0749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AA"/>
                </a:solidFill>
                <a:latin typeface="Calibri"/>
              </a:rPr>
              <a:t>[9] Saranyaraj et al. (2026). PneuNet: Lightweight CNN for pneumonia detection. Frontiers Medicine.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321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[10] Liu et al. (2026). UniRG: Scaling medical imaging report generation with multimodal RL. arXiv.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98932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AA"/>
                </a:solidFill>
                <a:latin typeface="Calibri"/>
              </a:rPr>
              <a:t>[11] Nicolson et al. (2026). CXRMate-2: Clinically acceptable chest X-ray report generation. arXiv.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Muhammad Talha  |  K25-7605
FAST National University of Computer and Emerging Sciences, Karachi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4A261"/>
                </a:solidFill>
                <a:latin typeface="Calibri"/>
              </a:rPr>
              <a:t>RL-GroundGen: Reinforcement Learning-Optimized Grounded Radiology Report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9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RL-GroundGen  |  Muhammad Talha  |  FAST-NUCES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